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RAG</c:v>
                </c:pt>
              </c:strCache>
            </c:strRef>
          </c:tx>
          <c:spPr>
            <a:solidFill>
              <a:srgbClr val="8A7B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Intent
accuracy</c:v>
                  </c:pt>
                  <c:pt idx="1">
                    <c:v>Grounded
(toàn bộ)</c:v>
                  </c:pt>
                  <c:pt idx="2">
                    <c:v>Handoff
precision</c:v>
                  </c:pt>
                  <c:pt idx="3">
                    <c:v>Handoff
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92.4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RAG</c:v>
                </c:pt>
              </c:strCache>
            </c:strRef>
          </c:tx>
          <c:spPr>
            <a:solidFill>
              <a:srgbClr val="2E7D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Intent
accuracy</c:v>
                  </c:pt>
                  <c:pt idx="1">
                    <c:v>Grounded
(toàn bộ)</c:v>
                  </c:pt>
                  <c:pt idx="2">
                    <c:v>Handoff
precision</c:v>
                  </c:pt>
                  <c:pt idx="3">
                    <c:v>Handoff
recall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</c:v>
                </c:pt>
                <c:pt idx="1">
                  <c:v>46.5</c:v>
                </c:pt>
                <c:pt idx="2">
                  <c:v>76.9</c:v>
                </c:pt>
                <c:pt idx="3">
                  <c:v>90.9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B21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DA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hội đồng. Em xin trình bày khóa luận: Xây dựng website thương mại điện tử tích hợp AI chăm sóc khách hàng.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98480" y="4023360"/>
            <a:ext cx="3108960" cy="3108960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  •  NGÀNH CÔNG NGHỆ THÔNG TIN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dựng Website Thương mại điện tử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AI Chăm sóc khách hàng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pPr indent="0" marL="0">
              <a:buNone/>
            </a:pPr>
            <a:r>
              <a:rPr lang="en-US" sz="160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 Lý Nhật Anh — MSSV 2251120333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7365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pPr indent="0" marL="0">
              <a:buNone/>
            </a:pPr>
            <a:r>
              <a:rPr lang="en-US" sz="1600" dirty="0">
                <a:solidFill>
                  <a:srgbClr val="F3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Lê Văn Quốc Anh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Giao thông Vận tải TP. Hồ Chí Minh — Viện CNTT và Điện, Điện tử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91640"/>
            <a:ext cx="566928" cy="566928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Vấn đề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3076" y="155448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24244" y="1691640"/>
            <a:ext cx="566928" cy="566928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2424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83196" y="155448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Phạm vi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2788920"/>
            <a:ext cx="566928" cy="566928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65176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23076" y="265176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24244" y="2788920"/>
            <a:ext cx="566928" cy="566928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24244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83196" y="265176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AI đa tác tử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3886200"/>
            <a:ext cx="566928" cy="566928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374904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chính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23076" y="374904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24244" y="3886200"/>
            <a:ext cx="566928" cy="566928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24244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83196" y="374904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9808" y="4983480"/>
            <a:ext cx="566928" cy="566928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49808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484632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Đánh giá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323076" y="4846320"/>
            <a:ext cx="5317236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524244" y="4983480"/>
            <a:ext cx="566928" cy="566928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24244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83196" y="4846320"/>
            <a:ext cx="42199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BỐI CẢNH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đặt 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hàng bánh vận hành thủ công qua nhiều kênh rời rạc — dẫn đến sai sót và trải nghiệm kém.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172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103120"/>
            <a:ext cx="457200" cy="457200"/>
          </a:xfrm>
          <a:prstGeom prst="ellipse">
            <a:avLst/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66544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rải rác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4732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đơn qua Zalo, Facebook, hotline nên dễ sót đơn và nhầm ghi chú (chữ viết trên bánh).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3076" y="1828800"/>
            <a:ext cx="53172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79108" y="2103120"/>
            <a:ext cx="457200" cy="457200"/>
          </a:xfrm>
          <a:prstGeom prst="ellipse">
            <a:avLst/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7910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91756" y="2066544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Đứt gãy nội bộ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15684" y="2606040"/>
            <a:ext cx="4732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thông tin giữa quản lý – bếp – giao hàng bằng giấy note, dễ nhầm lẫn.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172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" y="4114800"/>
            <a:ext cx="457200" cy="457200"/>
          </a:xfrm>
          <a:prstGeom prst="ellipse">
            <a:avLst/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78224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 vấn chậm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4617720"/>
            <a:ext cx="4732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nhắn hỏi mẫu mã, cốt bánh, giá; giờ cao điểm phản hồi rất chậm.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23076" y="3840480"/>
            <a:ext cx="53172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79108" y="4114800"/>
            <a:ext cx="457200" cy="457200"/>
          </a:xfrm>
          <a:prstGeom prst="ellipse">
            <a:avLst/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7910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91756" y="4078224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kiểm soát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15684" y="4617720"/>
            <a:ext cx="4732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kho, hạn nguyên liệu và doanh thu quản lý thủ công, thiếu chính xác.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ĐỊNH HƯỚNG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Phạm vi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17236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19072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7715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TMĐT hoàn chỉnh cho cửa hàng bánh (giỏ hàng, coupon, đặt hàng, thanh toán, quản trị, doanh thu).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 CSKH đa tác tử: phân loại ý định, truy xuất tri thức, hành động nghiệp vụ, chuyển nhân viên.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định lượng A/B: Multi-Agent RAG so với Baseline RAG.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cơ chế an toàn cơ bản: Auth0 (xác thực OIDC), CSRF, HMAC, webhook SePay.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463040"/>
            <a:ext cx="5317236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43116" y="1719072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43116" y="2240280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phạm vi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43116" y="2560320"/>
            <a:ext cx="46771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khách hàng + trang quản trị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CSKH trên web và Messenger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/ SePay VietQR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email qua Auth0 &amp; hóa đơn PDF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offline mô hình AI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43116" y="4526280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43116" y="4846320"/>
            <a:ext cx="46771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 nguyên liệu theo công thức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/ điều phối giao hàng realtime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MoMo, ZaloPay; app riêng cho shipper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trong một hình dung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nền tảng thương mại điện tử cho cửa hàng bánh, mở rộng bằng trợ lý AI biết tư vấn và hành động trên dữ liệu thật.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79092" y="2286000"/>
            <a:ext cx="731520" cy="731520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790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bán hàng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752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giỏ hàng, coupon, đặt hàng, nhiều phương thức thanh toán, quản trị và báo cáo doanh thu.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8264" y="19202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2871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2584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chăm sóc khách hàng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18304" y="3931920"/>
            <a:ext cx="2752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ý định, tư vấn sản phẩm/chính sách, tra &amp; tạo đơn có kiểm soát, chuyển nhân viên khi cần.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47888" y="1920240"/>
            <a:ext cx="3392424" cy="393192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578340" y="2286000"/>
            <a:ext cx="731520" cy="731520"/>
          </a:xfrm>
          <a:prstGeom prst="ellipse">
            <a:avLst/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783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22208" y="31546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nghiệp vụ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67928" y="3931920"/>
            <a:ext cx="2752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Auth0, SePay, email &amp; hóa đơn PDF đa driver, Messenger, Telegram; API tạo đơn ký HMAC.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thể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ứng dụng tách rời, dùng chung MySQL. Website proxy chat sang AI service; AI gọi ngược qua API nội bộ ký HMAC.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hàng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web • Messenger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628900"/>
            <a:ext cx="502920" cy="0"/>
          </a:xfrm>
          <a:prstGeom prst="line">
            <a:avLst/>
          </a:prstGeom>
          <a:noFill/>
          <a:ln w="28575">
            <a:solidFill>
              <a:srgbClr val="C97B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46120" y="210312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6A2D22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46120" y="2212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PHP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+ Admin • Chat proxy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628900"/>
            <a:ext cx="502920" cy="0"/>
          </a:xfrm>
          <a:prstGeom prst="line">
            <a:avLst/>
          </a:prstGeom>
          <a:noFill/>
          <a:ln w="28575">
            <a:solidFill>
              <a:srgbClr val="C97B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766560" y="2103120"/>
            <a:ext cx="4873752" cy="1051560"/>
          </a:xfrm>
          <a:prstGeom prst="roundRect">
            <a:avLst>
              <a:gd name="adj" fmla="val 7826"/>
            </a:avLst>
          </a:prstGeom>
          <a:solidFill>
            <a:srgbClr val="2E7D64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0" y="2212848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 — FastAPI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đa tác tử • ChromaDB + BM25 • LLM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840480"/>
            <a:ext cx="8394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46120" y="3931920"/>
            <a:ext cx="8394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— cơ sở dữ liệu dùng chung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4315968"/>
            <a:ext cx="8394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• banh • orders • order_items • chat_sessions • support_tickets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182112"/>
            <a:ext cx="0" cy="621792"/>
          </a:xfrm>
          <a:prstGeom prst="line">
            <a:avLst/>
          </a:prstGeom>
          <a:noFill/>
          <a:ln w="28575">
            <a:solidFill>
              <a:srgbClr val="6A2D2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0" y="3182112"/>
            <a:ext cx="0" cy="621792"/>
          </a:xfrm>
          <a:prstGeom prst="line">
            <a:avLst/>
          </a:prstGeom>
          <a:noFill/>
          <a:ln w="28575">
            <a:solidFill>
              <a:srgbClr val="2E7D6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5074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2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đơn an toàn:  </a:t>
            </a:r>
            <a:pPr indent="0" marL="0">
              <a:buNone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thu thập thông tin → gọi API nội bộ PHP (chữ ký HMAC) → PHP validate, khóa tồn kho FOR UPDATE, tạo đơn trong transaction.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PHÂN HỆ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đa tác tử (LangGraph)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0644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6A2D22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80644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7804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teencode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95244" y="2697480"/>
            <a:ext cx="292608" cy="0"/>
          </a:xfrm>
          <a:prstGeom prst="line">
            <a:avLst/>
          </a:prstGeom>
          <a:noFill/>
          <a:ln w="28575">
            <a:solidFill>
              <a:srgbClr val="E8C9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433572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E7D64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33572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70732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20 intent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8172" y="2697480"/>
            <a:ext cx="292608" cy="0"/>
          </a:xfrm>
          <a:prstGeom prst="line">
            <a:avLst/>
          </a:prstGeom>
          <a:noFill/>
          <a:ln w="28575">
            <a:solidFill>
              <a:srgbClr val="E8C9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86500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C97B3C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8650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2366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action / handoff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01100" y="2697480"/>
            <a:ext cx="292608" cy="0"/>
          </a:xfrm>
          <a:prstGeom prst="line">
            <a:avLst/>
          </a:prstGeom>
          <a:noFill/>
          <a:ln w="28575">
            <a:solidFill>
              <a:srgbClr val="E8C9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39428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4A7C59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39428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76588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EngineReply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53384" cy="1828800"/>
          </a:xfrm>
          <a:prstGeom prst="roundRect">
            <a:avLst>
              <a:gd name="adj" fmla="val 4000"/>
            </a:avLst>
          </a:prstGeom>
          <a:solidFill>
            <a:srgbClr val="3A241D"/>
          </a:solidFill>
          <a:ln w="12700">
            <a:solidFill>
              <a:srgbClr val="5A3B3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197096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A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theo intent trên đúng collection (products / policies / faq); rewrite tối đa 2 lần.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67784" y="3977640"/>
            <a:ext cx="3453384" cy="1828800"/>
          </a:xfrm>
          <a:prstGeom prst="roundRect">
            <a:avLst>
              <a:gd name="adj" fmla="val 4000"/>
            </a:avLst>
          </a:prstGeom>
          <a:solidFill>
            <a:srgbClr val="3A241D"/>
          </a:solidFill>
          <a:ln w="12700">
            <a:solidFill>
              <a:srgbClr val="5A3B3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42104" y="4197096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2104" y="466344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A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Tra/tạo đơn, khuyến mãi, coupon, đánh giá, so sánh, yêu thích, lọc dị ứng, báo giá riêng.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86928" y="3977640"/>
            <a:ext cx="3453384" cy="1828800"/>
          </a:xfrm>
          <a:prstGeom prst="roundRect">
            <a:avLst>
              <a:gd name="adj" fmla="val 4000"/>
            </a:avLst>
          </a:prstGeom>
          <a:solidFill>
            <a:srgbClr val="3A241D"/>
          </a:solidFill>
          <a:ln w="12700">
            <a:solidFill>
              <a:srgbClr val="5A3B3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61248" y="4197096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1248" y="4663440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A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Khiếu nại / cần người thật / hết retry → tạo ticket, chuyển nhân viên, báo Telegram.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độ trễ: Router "keyword-first" — khớp từ khóa thì trả intent ngay, bỏ qua lời gọi LLM.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PHÂN HỆ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20 ý định &amp; Truy xuất lai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17236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1907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— 20 Ý ĐỊNH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tri thức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4677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catalog_search, product_recommend, policy_shipping/payment/return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 nghiệp vụ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4677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order_status, order_create, promotion, bestseller, coupon, review, compare, favorite, dietary, custom_quote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người thật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53128"/>
            <a:ext cx="4677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complaint, handoff_request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413248"/>
            <a:ext cx="46771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chitchat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23076" y="1463040"/>
            <a:ext cx="5317236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43116" y="171907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 LAI (HYBRID)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43116" y="2377440"/>
            <a:ext cx="4677156" cy="731520"/>
          </a:xfrm>
          <a:prstGeom prst="roundRect">
            <a:avLst>
              <a:gd name="adj" fmla="val 1125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25996" y="2377440"/>
            <a:ext cx="43113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2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</a:t>
            </a:r>
            <a:pPr indent="0" marL="0"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tìm kiếm ngữ nghĩa (embedding Gemini)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43116" y="3246120"/>
            <a:ext cx="4677156" cy="731520"/>
          </a:xfrm>
          <a:prstGeom prst="roundRect">
            <a:avLst>
              <a:gd name="adj" fmla="val 11250"/>
            </a:avLst>
          </a:prstGeom>
          <a:solidFill>
            <a:srgbClr val="E8F0EC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25996" y="3246120"/>
            <a:ext cx="43113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 </a:t>
            </a:r>
            <a:pPr indent="0" marL="0"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bắt từ khóa chính xác (tên bánh, SePay, gluten)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41614" y="4160520"/>
            <a:ext cx="1280160" cy="457200"/>
          </a:xfrm>
          <a:prstGeom prst="chevron">
            <a:avLst/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41614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43116" y="4754880"/>
            <a:ext cx="46771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 bằng Reciprocal Rank Fusion — chỉ dùng thứ hạng, không cần chuẩn hóa điểm. Chỉ giữ trích dẫn nếu nguồn nằm trong tài liệu đã truy xuất (chống bịa đặt).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CHỨC NĂNG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phía khách hàng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33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kiếm, chi tiết, ảnh gallery, yêu thích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600200"/>
            <a:ext cx="34533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42104" y="1874520"/>
            <a:ext cx="502920" cy="502920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2104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82184" y="1874520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Giỏ &amp; Coupon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0392" y="2468880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Thêm/sửa/xóa giỏ, áp mã giảm giá theo điều kiện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6928" y="1600200"/>
            <a:ext cx="34533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61248" y="1874520"/>
            <a:ext cx="502920" cy="502920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6124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01328" y="1874520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hàng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79536" y="2468880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người nhận, địa chỉ; COD / SePay VietQR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4533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931920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hàng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526280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trạng thái, lịch sử đơn, hủy đơn COD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7784" y="3657600"/>
            <a:ext cx="34533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42104" y="3931920"/>
            <a:ext cx="502920" cy="502920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42104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82184" y="3931920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Hóa đơn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0392" y="4526280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PDF, gửi email tự động sau thanh toán/xác nhận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6928" y="3657600"/>
            <a:ext cx="34533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461248" y="3931920"/>
            <a:ext cx="502920" cy="502920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6124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01328" y="3931920"/>
            <a:ext cx="235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khoản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79536" y="4526280"/>
            <a:ext cx="2868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nhập/đăng ký qua Auth0 (xác minh email), quên mật khẩu, đánh giá SP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CHỨC NĂNG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&amp; Trợ lý AI CSKH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17236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1907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VẬN HÀNH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phẩm, ảnh, tồn kho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 &amp; cập nhật trạng thái hàng loạt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mãi, coupon, duyệt đánh giá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hàng, liên hệ, reset mật khẩu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bán chạy &amp; báo cáo doanh thu (Excel)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chat: nhận, trả lời, đóng/mở lại phiên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463040"/>
            <a:ext cx="5317236" cy="4572000"/>
          </a:xfrm>
          <a:prstGeom prst="roundRect">
            <a:avLst>
              <a:gd name="adj" fmla="val 1800"/>
            </a:avLst>
          </a:prstGeom>
          <a:solidFill>
            <a:srgbClr val="2E7D64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43116" y="171907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CHĂM SÓC KHÁCH HÀNG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3116" y="228600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chat, khôi phục lịch sử, card sản phẩm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sản phẩm, chính sách, FAQ (RAG)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đơn (khách đã đăng nhập)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đơn COD qua chat theo nhiều bước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Coupon, so sánh, lọc dị ứng, yêu thích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 bánh riêng; handoff khi khiếu nại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CÔNG NGHỆ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7236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847088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84708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737360"/>
            <a:ext cx="2848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• Apache • MySQL 8 • JavaScript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1554480"/>
            <a:ext cx="5317236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79108" y="1847088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79108" y="184708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17636" y="1737360"/>
            <a:ext cx="2848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FastAPI • LangChain + LangGraph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17236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3401568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C97B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340156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2848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(chat) • Gemini (embedding)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23076" y="3108960"/>
            <a:ext cx="5317236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79108" y="3401568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4A7C5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79108" y="340156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xuất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17636" y="3291840"/>
            <a:ext cx="2848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• BM25 • Reciprocal Rank Fusion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17236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04672" y="4956048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9B5A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" y="495604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4846320"/>
            <a:ext cx="2848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• SePay • PHPMailer/Gmail/Resend • dompdf • Messenger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23076" y="4663440"/>
            <a:ext cx="5317236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79108" y="4956048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50607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79108" y="495604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17636" y="4846320"/>
            <a:ext cx="2848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• Render • Aiven MySQL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KIỂM THỬ &amp; ĐÁNH GIÁ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A/B: Baseline vs Multi-Agent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457200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mẫu hội thoại tiếng Việt gán nhãn ý định + cờ handoff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lượt / engine, không phát sinh lỗi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Baseline RAG vs Multi-Agent RAG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số: intent accuracy, grounded, handoff P/R/F1, latency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6793992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20640" y="164592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chỉ số chính (%)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74920" y="2103120"/>
          <a:ext cx="633679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KIỂM THỬ &amp; ĐÁNH GIÁ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&amp; Nhận xét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33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709928"/>
            <a:ext cx="3087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0%)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508760"/>
            <a:ext cx="34533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50664" y="1709928"/>
            <a:ext cx="3087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50664" y="25146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F1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6928" y="1508760"/>
            <a:ext cx="34533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69808" y="1709928"/>
            <a:ext cx="3087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9808" y="25146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lượt đầu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6,2s)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167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XÉT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206240"/>
            <a:ext cx="10451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vượt trội về năng lực nghiệp vụ (phân loại ý định, hành động, handoff) và độ trễ thấp hơn.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định rõ ràng đạt cao: order_create 100%, order_status 92%, catalog_search 91%.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đổi: grounded rate toàn bộ thấp hơn (46,5% vs 92,4%) do nhiều lượt action/chitchat không kèm trích dẫn — xét riêng nhóm truy xuất tri thức là 70%.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faq (43%) và product_recommend (36%) còn thấp do ngữ nghĩa gần catalog_search/policy.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TỔNG KẾT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2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 · Hạn chế · Hướng phát triển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2904744" cy="548640"/>
          </a:xfrm>
          <a:prstGeom prst="roundRect">
            <a:avLst>
              <a:gd name="adj" fmla="val 10000"/>
            </a:avLst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06040"/>
            <a:ext cx="28681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biết hành động trên dữ liệu thật, không chỉ FAQ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sang nhân viên có ticket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A/B định lượng bằng dataset tiếng Việt tự xây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đơn an toàn qua API nội bộ ký HMAC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7784" y="155448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42104" y="1828800"/>
            <a:ext cx="2904744" cy="548640"/>
          </a:xfrm>
          <a:prstGeom prst="roundRect">
            <a:avLst>
              <a:gd name="adj" fmla="val 10000"/>
            </a:avLst>
          </a:prstGeom>
          <a:solidFill>
            <a:srgbClr val="B0503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2104" y="182880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0392" y="2606040"/>
            <a:ext cx="28681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 còn rule-based (chưa phục hồi dấu tổng quát)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quản lý kho nguyên liệu / giao hàng realtime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có SePay VietQR; Resend chưa có webhook trạng thái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2FA &amp; phân quyền nhân viên chi tiết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6928" y="155448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61248" y="1828800"/>
            <a:ext cx="2904744" cy="548640"/>
          </a:xfrm>
          <a:prstGeom prst="roundRect">
            <a:avLst>
              <a:gd name="adj" fmla="val 10000"/>
            </a:avLst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61248" y="182880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9536" y="2606040"/>
            <a:ext cx="28681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theo dõi chỉ số AI theo thời gian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combo theo dịp/ngân sách; bán chéo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MoMo/ZaloPay &amp; module giao hàng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theo vai trò, 2FA, audit log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tích hợp AI CSKH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6A2D2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2E7D6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TMĐT tích hợp AI chăm sóc khách hàng — tư vấn, hành động và chuyển nhân viên trên dữ liệu thật.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cho thấy kiến trúc Multi-Agent RAG phù hợp với bài toán CSKH nghiệp vụ; hệ thống là nền tảng có thể tái sử dụng và mở rộng cho cửa hàng vừa và nhỏ.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https://cake-i8l0.onrender.com/cakev0/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9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cảm ơn quý thầy cô đã lắng nghe!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2026-08-04T09:38:27Z</dcterms:created>
  <dcterms:modified xsi:type="dcterms:W3CDTF">2026-08-04T09:38:27Z</dcterms:modified>
</cp:coreProperties>
</file>